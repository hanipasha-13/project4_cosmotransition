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9" r:id="rId2"/>
    <p:sldId id="256" r:id="rId3"/>
    <p:sldId id="258" r:id="rId4"/>
    <p:sldId id="261" r:id="rId5"/>
    <p:sldId id="262" r:id="rId6"/>
    <p:sldId id="263" r:id="rId7"/>
    <p:sldId id="279" r:id="rId8"/>
    <p:sldId id="272" r:id="rId9"/>
    <p:sldId id="273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st Presentation" id="{1730505F-9C6E-4069-8D20-A02995412805}">
          <p14:sldIdLst>
            <p14:sldId id="289"/>
            <p14:sldId id="256"/>
            <p14:sldId id="258"/>
            <p14:sldId id="261"/>
            <p14:sldId id="262"/>
            <p14:sldId id="263"/>
            <p14:sldId id="279"/>
            <p14:sldId id="272"/>
            <p14:sldId id="273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60" autoAdjust="0"/>
    <p:restoredTop sz="92035" autoAdjust="0"/>
  </p:normalViewPr>
  <p:slideViewPr>
    <p:cSldViewPr snapToGrid="0">
      <p:cViewPr varScale="1">
        <p:scale>
          <a:sx n="95" d="100"/>
          <a:sy n="95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49600-B97E-40F6-9CAB-E8F8E5206392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3841D-E4DA-439A-B627-C7093C081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65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3841D-E4DA-439A-B627-C7093C0817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19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4761-2F5E-EF93-6F4C-85AADCB76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2C4F4-4329-723A-7CDF-FB134F90B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1D392-57FC-A45E-944F-63323BEBB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8F70-C799-4EBD-AEDE-FB64CB438698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2488-57A2-F01D-C4B7-5EA9F263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30D7C-EED2-6908-DFEB-E17F9487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5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C7C9-865F-082E-65CB-F12D8225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DDAD4-CC5F-CED6-9F7C-49B2265CD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00E01-1DCE-5908-BA27-AAAA90E74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C8F2-B071-41F0-BFDE-B4A20A78BA8A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6099E-8234-AE22-6C12-AF1073F8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BC752-93A7-E1DB-8B13-16DE005F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2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1C97-9306-9E0E-E0E1-30C65237C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16B8D-5FA2-5A81-88A2-4F62F7D2C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2DEC3-6A37-9762-2E46-61EFC9EA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EB-72B5-4CD4-B65E-42483533C9EB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BD364-12A0-BC8F-55F4-02F17CA0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5F11D-CFE7-6B6F-D828-87C8FD51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61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4E31-61F5-5D80-B45F-BEAD3A6B5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60B04-0FC9-94D4-C620-B7182E7F4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FDB83-61DC-887B-5068-8A5F6A031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405D5-6133-C25E-4A50-211092C50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F4F5-53C7-43C0-9AF4-C0F7220A3505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ED159-1D80-F2AB-AEE2-2CDE45A4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182B2-0870-0A36-13CA-EBB2B541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6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AB64-0F17-FF6C-842C-D41C3609E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16B93-CE49-B235-1C60-D4F06827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9525D-3688-9ACF-B1D3-FD97F9E03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6CE7D9-724E-CBA3-F856-9D22BFC49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2F2553-F858-3A82-A0A7-7F09218B7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702C13-FB2E-B9CB-7444-A27C6928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815C5-6BA1-40CD-A0B5-DCB5EC3A9E14}" type="datetime1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47748A-EB66-5B01-A85A-80FB0EE8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164A5-4B65-4289-B13A-74DDD275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03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3ABA-11C2-A866-418F-A1D0CF3C7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F31FD-CEF9-DCE9-2339-9F72D97E8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25D5-2DA6-45EF-8877-C14BC908AE7D}" type="datetime1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E2A62-1D51-CAC5-D420-F89D8964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8EE32-EB08-3B71-E515-8562F2A9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9CDE5-2851-91D1-E30B-39DE93462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6FBB-48F3-4071-A882-7889C6FAB28D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4A180-2EEF-7484-3330-3D144719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37B2B-F6FE-C247-CBB8-2DE22B298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7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B959-5410-B576-54BF-12CF29B59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C50F7-E3EF-A024-7FD0-B332CCD8C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F4F76-819C-E4DF-E963-A3295219E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AABC9-957C-9FEB-A2F0-2A12EDE2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283B-A0F7-4097-86E9-45F532162EA1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635F5-1D79-8867-2F56-000DDAC7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C6723-F6F2-4CA1-093D-67F486BE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65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EF13-F823-3ECF-51A0-451C496D7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E8D3C-C8AC-E8D3-17B9-9E185745B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350C9-5188-62A5-4250-7006170F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97B2C-76A0-17A0-BD52-562B89ED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CD1A-9BAE-4DA3-BD04-730019387405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52BF3-7CEF-F3B1-9F8A-CFE013CD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0B30A-A1F2-DDBF-43B3-E7FE9C92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1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05DB-A9A3-07C7-21A6-EDA52DA7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505420-94C4-A65F-B8B1-D16FD7F32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519E6-92C1-9F44-F402-FF4ED1A7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D3FF-BE71-4D02-815E-6529C5B027B7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2495A-2E52-7F47-5D51-A36AC819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4B296-C996-C4DD-397A-E82948E8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07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C48BDD-F87E-8F7B-CE2A-DE92E73F1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72391-2801-1B75-02AB-7DE81C6C0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18ABC-40D6-EB21-673D-9C0CE58D9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A779-12D3-4F62-B483-778CFD9B07F3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230E6-982A-F6F0-1C56-E4309FFB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2B19E-047D-5408-4C3B-DFB9B3C7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25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7F884-17AB-9583-8865-87AEDC1D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8294F-3B13-C9F2-48DC-18E2632EC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E7648-2871-FAC1-2872-D11DDC8800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646B7-D01E-4288-900A-B9F0C07CF03D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DE432-DE3D-518C-CE29-60F9138D8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DC51B-59AA-7648-9A98-4AA59AECC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30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DF6A-70CF-1020-155C-50C363389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1693"/>
            <a:ext cx="10515600" cy="2035269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pPr marL="0" indent="0" algn="ctr">
              <a:buNone/>
            </a:pPr>
            <a:r>
              <a:rPr lang="en-US" sz="3600" dirty="0"/>
              <a:t>Hani, Amal, Srijana</a:t>
            </a:r>
          </a:p>
          <a:p>
            <a:pPr marL="0" indent="0" algn="ctr">
              <a:buNone/>
            </a:pPr>
            <a:r>
              <a:rPr lang="en-US" sz="3600" dirty="0"/>
              <a:t>Computational Physics</a:t>
            </a:r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dirty="0"/>
              <a:t>Dec 2025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3CF41-E3F8-C82C-514D-F27DCB143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C8F2-B071-41F0-BFDE-B4A20A78BA8A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BB610-6B93-F68B-84A0-38E2B371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1</a:t>
            </a:fld>
            <a:endParaRPr lang="en-US"/>
          </a:p>
        </p:txBody>
      </p:sp>
      <p:sp>
        <p:nvSpPr>
          <p:cNvPr id="6" name="Title 9">
            <a:extLst>
              <a:ext uri="{FF2B5EF4-FFF2-40B4-BE49-F238E27FC236}">
                <a16:creationId xmlns:a16="http://schemas.microsoft.com/office/drawing/2014/main" id="{7F2E0D56-C379-5B94-2099-B9ABC69C3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6899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Project 4: </a:t>
            </a:r>
            <a:r>
              <a:rPr lang="en-US" dirty="0" err="1">
                <a:solidFill>
                  <a:schemeClr val="bg1"/>
                </a:solidFill>
              </a:rPr>
              <a:t>CosmoTransition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774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0961"/>
            <a:ext cx="10515600" cy="1432298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Phase Transitions in the Early Universe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12/11/25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5C2D94-363D-5BB7-0A5C-312B4E3E6972}"/>
              </a:ext>
            </a:extLst>
          </p:cNvPr>
          <p:cNvSpPr txBox="1"/>
          <p:nvPr/>
        </p:nvSpPr>
        <p:spPr>
          <a:xfrm>
            <a:off x="4352363" y="6356348"/>
            <a:ext cx="280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Hanieh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Moradipasha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25C211-87B9-2771-5AB5-6C7FAD016CCB}"/>
              </a:ext>
            </a:extLst>
          </p:cNvPr>
          <p:cNvSpPr txBox="1"/>
          <p:nvPr/>
        </p:nvSpPr>
        <p:spPr>
          <a:xfrm>
            <a:off x="1019733" y="3193961"/>
            <a:ext cx="82699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Motivations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The 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err="1"/>
              <a:t>CosmoTransition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10684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Motivations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6311899"/>
            <a:ext cx="10744200" cy="42428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5C916-DE37-815C-5A26-83557EA44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5435" y="2223247"/>
            <a:ext cx="10448365" cy="2725271"/>
          </a:xfrm>
        </p:spPr>
        <p:txBody>
          <a:bodyPr>
            <a:normAutofit/>
          </a:bodyPr>
          <a:lstStyle/>
          <a:p>
            <a:r>
              <a:rPr lang="en-US" dirty="0"/>
              <a:t>Matter-Antimatter Asymmetry</a:t>
            </a:r>
          </a:p>
          <a:p>
            <a:r>
              <a:rPr lang="en-US" dirty="0"/>
              <a:t>Gravitational Waves</a:t>
            </a:r>
          </a:p>
          <a:p>
            <a:r>
              <a:rPr lang="en-US" dirty="0"/>
              <a:t>Dark Matter Relic Density</a:t>
            </a:r>
          </a:p>
          <a:p>
            <a:r>
              <a:rPr lang="en-US" dirty="0"/>
              <a:t>Black Holes</a:t>
            </a:r>
          </a:p>
          <a:p>
            <a:r>
              <a:rPr lang="en-US" dirty="0"/>
              <a:t>Topological Defects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12/11/25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10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854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The Story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12/11/25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E66A9-12DE-2C16-D32A-351257F9F60E}"/>
              </a:ext>
            </a:extLst>
          </p:cNvPr>
          <p:cNvSpPr txBox="1"/>
          <p:nvPr/>
        </p:nvSpPr>
        <p:spPr>
          <a:xfrm>
            <a:off x="1501588" y="2274838"/>
            <a:ext cx="833717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</a:rPr>
              <a:t>Through a PT system</a:t>
            </a:r>
            <a:r>
              <a:rPr lang="en-US" sz="2800" b="0" i="0" dirty="0">
                <a:solidFill>
                  <a:srgbClr val="333333"/>
                </a:solidFill>
                <a:effectLst/>
              </a:rPr>
              <a:t> changes its form and properties.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</a:rPr>
              <a:t>Symmetry group changes: </a:t>
            </a:r>
          </a:p>
          <a:p>
            <a:pPr algn="ctr"/>
            <a:r>
              <a:rPr lang="es-ES" sz="2800" i="1" dirty="0">
                <a:solidFill>
                  <a:srgbClr val="333333"/>
                </a:solidFill>
                <a:effectLst/>
              </a:rPr>
              <a:t>G -&gt; H -&gt; ... -&gt; SU(3) x SU(2) x U(1) -&gt; SU(3) x U(1)</a:t>
            </a:r>
          </a:p>
          <a:p>
            <a:pPr algn="ctr"/>
            <a:endParaRPr lang="es-ES" sz="2800" i="1" dirty="0">
              <a:solidFill>
                <a:srgbClr val="333333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 err="1">
                <a:solidFill>
                  <a:srgbClr val="333333"/>
                </a:solidFill>
              </a:rPr>
              <a:t>Dramatic</a:t>
            </a:r>
            <a:r>
              <a:rPr lang="es-ES" sz="2800" dirty="0">
                <a:solidFill>
                  <a:srgbClr val="333333"/>
                </a:solidFill>
              </a:rPr>
              <a:t>, 1st-Order, </a:t>
            </a:r>
            <a:r>
              <a:rPr lang="es-ES" sz="2800" dirty="0" err="1">
                <a:solidFill>
                  <a:srgbClr val="333333"/>
                </a:solidFill>
              </a:rPr>
              <a:t>Smooth</a:t>
            </a:r>
            <a:r>
              <a:rPr lang="es-ES" sz="2800" dirty="0">
                <a:solidFill>
                  <a:srgbClr val="333333"/>
                </a:solidFill>
              </a:rPr>
              <a:t>, 2nd-order </a:t>
            </a:r>
            <a:r>
              <a:rPr lang="es-ES" sz="2800" dirty="0">
                <a:solidFill>
                  <a:srgbClr val="333333"/>
                </a:solidFill>
                <a:effectLst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25D05-EFC2-5FDB-9490-23A590D31909}"/>
              </a:ext>
            </a:extLst>
          </p:cNvPr>
          <p:cNvSpPr txBox="1"/>
          <p:nvPr/>
        </p:nvSpPr>
        <p:spPr>
          <a:xfrm>
            <a:off x="9094694" y="2554941"/>
            <a:ext cx="148814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Like water!</a:t>
            </a:r>
          </a:p>
        </p:txBody>
      </p:sp>
    </p:spTree>
    <p:extLst>
      <p:ext uri="{BB962C8B-B14F-4D97-AF65-F5344CB8AC3E}">
        <p14:creationId xmlns:p14="http://schemas.microsoft.com/office/powerpoint/2010/main" val="135000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854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Story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12/11/25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C2857-1E60-247A-27FE-F0AD093F7B6A}"/>
              </a:ext>
            </a:extLst>
          </p:cNvPr>
          <p:cNvSpPr txBox="1"/>
          <p:nvPr/>
        </p:nvSpPr>
        <p:spPr>
          <a:xfrm>
            <a:off x="2537012" y="1587162"/>
            <a:ext cx="71179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i="0" dirty="0">
                <a:solidFill>
                  <a:srgbClr val="333333"/>
                </a:solidFill>
                <a:effectLst/>
              </a:rPr>
              <a:t>First-order</a:t>
            </a:r>
            <a:r>
              <a:rPr lang="en-US" sz="2000" b="0" i="0" dirty="0">
                <a:solidFill>
                  <a:srgbClr val="333333"/>
                </a:solidFill>
                <a:effectLst/>
              </a:rPr>
              <a:t> phase transitions occur through the formation of bubbles of the new phase in the middle of the old phase; these bubbles then expand and collide until the old phase disappears completely and the phase transition is complete.</a:t>
            </a:r>
            <a:endParaRPr lang="es-ES" sz="2000" dirty="0">
              <a:solidFill>
                <a:srgbClr val="333333"/>
              </a:solidFill>
              <a:effectLst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801EF2-47C7-28CD-D83E-E19C61B88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932610"/>
            <a:ext cx="4413540" cy="319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26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854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Story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12/11/25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32BC99-5B6E-D2EB-DB1D-C58EC614C64D}"/>
              </a:ext>
            </a:extLst>
          </p:cNvPr>
          <p:cNvSpPr txBox="1"/>
          <p:nvPr/>
        </p:nvSpPr>
        <p:spPr>
          <a:xfrm>
            <a:off x="1475704" y="1770692"/>
            <a:ext cx="87226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Dynamics of PT controlled by propagating </a:t>
            </a:r>
            <a:r>
              <a:rPr lang="en-US" sz="2000" u="sng" dirty="0"/>
              <a:t>velocity of bubble walls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Internal pressure &amp; external friction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Critical Bubbles drive 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E19A48-3109-080C-EF5B-DCE101232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101" y="4271920"/>
            <a:ext cx="3023798" cy="7078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C926D7-DB69-34E2-1D5A-AA5993698060}"/>
              </a:ext>
            </a:extLst>
          </p:cNvPr>
          <p:cNvSpPr txBox="1"/>
          <p:nvPr/>
        </p:nvSpPr>
        <p:spPr>
          <a:xfrm>
            <a:off x="1525010" y="3809075"/>
            <a:ext cx="87226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Calculating bubble profile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Bubble nucleation rate at T=0: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Bubble nucleation rate at finite T: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7E6922-6648-3FF9-3757-438BB8B0D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765" y="5098959"/>
            <a:ext cx="1335741" cy="2989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4EEFB0-3E93-58F1-F139-B1A1C0B52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765" y="5440219"/>
            <a:ext cx="1419197" cy="226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9385FF-6454-3C6F-286F-341A7AFDB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71" y="4625863"/>
            <a:ext cx="1247430" cy="2093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F15EA9-2B5C-9959-376C-30F4002EF6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6047" y="5229283"/>
            <a:ext cx="1727778" cy="52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7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D66A-EF09-018C-D65B-A1560D78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85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Vacuum Decay in QFT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 Bounce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DFEA9-E0A0-0367-1232-46F46F29B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82495"/>
                <a:ext cx="10515600" cy="4494467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50000"/>
                  </a:lnSpc>
                  <a:buNone/>
                </a:pPr>
                <a:r>
                  <a:rPr lang="en-US" sz="1600" i="1" dirty="0"/>
                  <a:t>G</a:t>
                </a:r>
                <a:r>
                  <a:rPr lang="en-US" sz="1600" i="1" dirty="0" err="1"/>
                  <a:t>eneralising</a:t>
                </a:r>
                <a:r>
                  <a:rPr lang="en-US" sz="1600" i="1" dirty="0"/>
                  <a:t> the formalism from the single degree of freedom seen in </a:t>
                </a:r>
              </a:p>
              <a:p>
                <a:pPr marL="0" indent="0" algn="ctr">
                  <a:lnSpc>
                    <a:spcPct val="50000"/>
                  </a:lnSpc>
                  <a:buNone/>
                </a:pPr>
                <a:r>
                  <a:rPr lang="en-US" sz="1600" i="1" dirty="0"/>
                  <a:t>one dimension to the infinite number of degrees of freedom</a:t>
                </a:r>
              </a:p>
              <a:p>
                <a:pPr marL="0" indent="0" algn="ctr">
                  <a:lnSpc>
                    <a:spcPct val="50000"/>
                  </a:lnSpc>
                  <a:buNone/>
                </a:pPr>
                <a:endParaRPr lang="en-US" sz="1600" i="1" dirty="0"/>
              </a:p>
              <a:p>
                <a:pPr>
                  <a:lnSpc>
                    <a:spcPct val="50000"/>
                  </a:lnSpc>
                </a:pPr>
                <a:r>
                  <a:rPr lang="en-US" sz="2000" dirty="0"/>
                  <a:t>Single scalar field in Euclidean space: 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sz="2000" dirty="0"/>
                  <a:t>The thing to compute is </a:t>
                </a:r>
                <a:r>
                  <a:rPr lang="el-GR" sz="2000" dirty="0"/>
                  <a:t>Γ/</a:t>
                </a:r>
                <a:r>
                  <a:rPr lang="en-US" sz="2000" dirty="0"/>
                  <a:t>V</a:t>
                </a:r>
              </a:p>
              <a:p>
                <a:pPr>
                  <a:lnSpc>
                    <a:spcPct val="50000"/>
                  </a:lnSpc>
                </a:pPr>
                <a:endParaRPr lang="en-US" sz="2000" dirty="0"/>
              </a:p>
              <a:p>
                <a:pPr>
                  <a:lnSpc>
                    <a:spcPct val="50000"/>
                  </a:lnSpc>
                </a:pPr>
                <a:endParaRPr lang="en-US" sz="2000" dirty="0"/>
              </a:p>
              <a:p>
                <a:pPr>
                  <a:lnSpc>
                    <a:spcPct val="50000"/>
                  </a:lnSpc>
                </a:pPr>
                <a:r>
                  <a:rPr lang="en-US" sz="2000" dirty="0"/>
                  <a:t>Solving the equations of motion that arose from the stationary Euclidean </a:t>
                </a:r>
              </a:p>
              <a:p>
                <a:pPr marL="0" indent="0">
                  <a:lnSpc>
                    <a:spcPct val="50000"/>
                  </a:lnSpc>
                  <a:buNone/>
                </a:pPr>
                <a:r>
                  <a:rPr lang="en-US" sz="2000" dirty="0"/>
                  <a:t>action with appropriate </a:t>
                </a:r>
                <a:r>
                  <a:rPr lang="en-US" sz="2000" dirty="0" err="1"/>
                  <a:t>b.c.</a:t>
                </a:r>
                <a:r>
                  <a:rPr lang="en-US" sz="2000" dirty="0"/>
                  <a:t> to find the barrier penetration amplitude.</a:t>
                </a:r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r>
                  <a:rPr lang="en-US" sz="1800" dirty="0" err="1"/>
                  <a:t>b.c.</a:t>
                </a:r>
                <a:r>
                  <a:rPr lang="en-US" sz="1800" dirty="0"/>
                  <a:t>: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𝑓𝑣</m:t>
                        </m:r>
                      </m:sub>
                    </m:sSub>
                  </m:oMath>
                </a14:m>
                <a:r>
                  <a:rPr lang="en-US" sz="1800" dirty="0"/>
                  <a:t> 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</m:acc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den>
                        </m:f>
                      </m:e>
                      <m:sub>
                        <m:d>
                          <m:dPr>
                            <m:begChr m:val="|"/>
                            <m:endChr m:val="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 ,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𝑓𝑣</m:t>
                        </m:r>
                      </m:sub>
                    </m:sSub>
                  </m:oMath>
                </a14:m>
                <a:r>
                  <a:rPr lang="en-US" sz="1800" dirty="0"/>
                  <a:t>       </a:t>
                </a:r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r>
                  <a:rPr lang="en-US" sz="1800" dirty="0"/>
                  <a:t> ..</a:t>
                </a:r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DFEA9-E0A0-0367-1232-46F46F29B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82495"/>
                <a:ext cx="10515600" cy="4494467"/>
              </a:xfrm>
              <a:blipFill>
                <a:blip r:embed="rId2"/>
                <a:stretch>
                  <a:fillRect l="-638" t="-2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924EC-CDD3-8471-24D3-AC974E91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7772400" cy="36512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fld id="{2FD3C8F2-B071-41F0-BFDE-B4A20A78BA8A}" type="datetime1">
              <a:rPr lang="en-US" smtClean="0">
                <a:solidFill>
                  <a:schemeClr val="bg1"/>
                </a:solidFill>
              </a:rPr>
              <a:t>12/11/25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8F0FD-B0A1-4BF0-4877-34138BD1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B98A06-2F34-AF98-14D9-1DB45D1A5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257" y="2102004"/>
            <a:ext cx="2608730" cy="766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24370A-D1FE-68A6-EF94-2B430CF60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4157" y="2102004"/>
            <a:ext cx="3067050" cy="1724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8106A5-059B-4B3E-0BF8-363ED5AC2935}"/>
              </a:ext>
            </a:extLst>
          </p:cNvPr>
          <p:cNvSpPr txBox="1"/>
          <p:nvPr/>
        </p:nvSpPr>
        <p:spPr>
          <a:xfrm>
            <a:off x="9362941" y="1553284"/>
            <a:ext cx="190948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Bounce Solution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A794B2-EA7B-C57D-CC6F-8871C345A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5059" y="4117736"/>
            <a:ext cx="1361877" cy="3857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C39346-769C-5CA3-8F31-52B2C353E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6570" y="4807488"/>
            <a:ext cx="1648496" cy="4669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737530-7300-25DB-7074-80813BC026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7868" y="4783817"/>
            <a:ext cx="1390918" cy="4345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4A9C1F-2F1C-C977-A364-4EE598BD04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082" y="5564087"/>
            <a:ext cx="170497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2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837"/>
            <a:ext cx="10515600" cy="845469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Vacuum Decay in QFT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12/11/25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FAE317-0D34-5B50-D5D9-B9918DD63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342" y="1595957"/>
            <a:ext cx="5893316" cy="25053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87649-08B2-65D1-B287-8FF023E48FA8}"/>
              </a:ext>
            </a:extLst>
          </p:cNvPr>
          <p:cNvSpPr txBox="1"/>
          <p:nvPr/>
        </p:nvSpPr>
        <p:spPr>
          <a:xfrm>
            <a:off x="1241612" y="1589114"/>
            <a:ext cx="10311063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CMSS10"/>
              </a:rPr>
              <a:t>Interested in the classical solutions which are topologically nontrivial.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73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819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Vacuum Decay in QFT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6311899"/>
            <a:ext cx="10744200" cy="42428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5C916-DE37-815C-5A26-83557EA44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5435" y="2223247"/>
            <a:ext cx="10448365" cy="272527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i="1" dirty="0"/>
              <a:t>We don’t have perfectly adequate small-coupling approximation in perturbation theory!</a:t>
            </a:r>
          </a:p>
          <a:p>
            <a:pPr marL="0" indent="0" algn="ctr">
              <a:buNone/>
            </a:pPr>
            <a:endParaRPr lang="en-US" sz="2400" i="1" dirty="0"/>
          </a:p>
          <a:p>
            <a:r>
              <a:rPr lang="en-US" sz="2400" dirty="0"/>
              <a:t>Particle analogy -&gt; No barrier penetration is seen in any order of perturbation theory.</a:t>
            </a:r>
          </a:p>
          <a:p>
            <a:endParaRPr lang="en-US" sz="2400" dirty="0"/>
          </a:p>
          <a:p>
            <a:r>
              <a:rPr lang="en-US" sz="2400" dirty="0"/>
              <a:t>Phenomena in QFT: </a:t>
            </a:r>
            <a:r>
              <a:rPr lang="en-US" sz="2400" b="1" dirty="0">
                <a:solidFill>
                  <a:srgbClr val="FF0000"/>
                </a:solidFill>
              </a:rPr>
              <a:t>Instantons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12/11/25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FA4947-C537-9F99-34F4-F5A89056E249}"/>
              </a:ext>
            </a:extLst>
          </p:cNvPr>
          <p:cNvSpPr txBox="1"/>
          <p:nvPr/>
        </p:nvSpPr>
        <p:spPr>
          <a:xfrm>
            <a:off x="5426713" y="4528118"/>
            <a:ext cx="5685040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Solutions to the classical equations of motion that emerge when approaching tunnelling problems in Euclidean space.</a:t>
            </a:r>
          </a:p>
        </p:txBody>
      </p:sp>
    </p:spTree>
    <p:extLst>
      <p:ext uri="{BB962C8B-B14F-4D97-AF65-F5344CB8AC3E}">
        <p14:creationId xmlns:p14="http://schemas.microsoft.com/office/powerpoint/2010/main" val="159971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D66A-EF09-018C-D65B-A1560D78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85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Vacuum Decay in QFT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The Bounce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FEA9-E0A0-0367-1232-46F46F29B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2885"/>
            <a:ext cx="10515600" cy="3584077"/>
          </a:xfrm>
        </p:spPr>
        <p:txBody>
          <a:bodyPr>
            <a:normAutofit/>
          </a:bodyPr>
          <a:lstStyle/>
          <a:p>
            <a:r>
              <a:rPr lang="en-US" sz="2000" dirty="0">
                <a:sym typeface="Wingdings" panose="05000000000000000000" pitchFamily="2" charset="2"/>
              </a:rPr>
              <a:t>Radial coordinate in 4-dim Euclidean space: </a:t>
            </a:r>
          </a:p>
          <a:p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dirty="0" err="1">
                <a:sym typeface="Wingdings" panose="05000000000000000000" pitchFamily="2" charset="2"/>
              </a:rPr>
              <a:t>e.o.m</a:t>
            </a:r>
            <a:r>
              <a:rPr lang="en-US" sz="2000" dirty="0">
                <a:sym typeface="Wingdings" panose="05000000000000000000" pitchFamily="2" charset="2"/>
              </a:rPr>
              <a:t> for Bounce:                                                                                                   </a:t>
            </a:r>
          </a:p>
          <a:p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dirty="0" err="1">
                <a:sym typeface="Wingdings" panose="05000000000000000000" pitchFamily="2" charset="2"/>
              </a:rPr>
              <a:t>b.c.</a:t>
            </a:r>
            <a:r>
              <a:rPr lang="en-US" sz="2000" dirty="0">
                <a:sym typeface="Wingdings" panose="05000000000000000000" pitchFamily="2" charset="2"/>
              </a:rPr>
              <a:t> :                                                   ,</a:t>
            </a:r>
          </a:p>
          <a:p>
            <a:endParaRPr lang="en-US" sz="2000" dirty="0">
              <a:sym typeface="Wingdings" panose="05000000000000000000" pitchFamily="2" charset="2"/>
            </a:endParaRPr>
          </a:p>
          <a:p>
            <a:endParaRPr lang="en-US" sz="2000" dirty="0">
              <a:sym typeface="Wingdings" panose="05000000000000000000" pitchFamily="2" charset="2"/>
            </a:endParaRPr>
          </a:p>
          <a:p>
            <a:endParaRPr lang="en-US" sz="2000" dirty="0">
              <a:sym typeface="Wingdings" panose="05000000000000000000" pitchFamily="2" charset="2"/>
            </a:endParaRP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924EC-CDD3-8471-24D3-AC974E91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7772400" cy="36512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fld id="{2FD3C8F2-B071-41F0-BFDE-B4A20A78BA8A}" type="datetime1">
              <a:rPr lang="en-US" smtClean="0">
                <a:solidFill>
                  <a:schemeClr val="bg1"/>
                </a:solidFill>
              </a:rPr>
              <a:t>12/11/25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8F0FD-B0A1-4BF0-4877-34138BD1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DF714F-F30B-1D5F-6C1D-F4C2B92AB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652" y="2438652"/>
            <a:ext cx="1781175" cy="552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846086-A725-5621-30BE-700D6D37F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656" y="3166213"/>
            <a:ext cx="1886835" cy="7645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F77B0F-1361-089B-F92F-75BE8DA9D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638" y="4182929"/>
            <a:ext cx="1714579" cy="551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4EDD9A-15E7-CA9D-0530-BF8528901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3925812"/>
            <a:ext cx="1279040" cy="763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D4E24A-53FB-0B4B-D39C-5C578A14852D}"/>
              </a:ext>
            </a:extLst>
          </p:cNvPr>
          <p:cNvSpPr txBox="1"/>
          <p:nvPr/>
        </p:nvSpPr>
        <p:spPr>
          <a:xfrm>
            <a:off x="1284933" y="1503364"/>
            <a:ext cx="32731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*Wick Rotation (Imaginary time) </a:t>
            </a:r>
          </a:p>
          <a:p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to go to Euclidean space.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6DAA3-8D82-B58E-08F4-37FABE5C23F3}"/>
              </a:ext>
            </a:extLst>
          </p:cNvPr>
          <p:cNvSpPr txBox="1"/>
          <p:nvPr/>
        </p:nvSpPr>
        <p:spPr>
          <a:xfrm>
            <a:off x="7783009" y="3177486"/>
            <a:ext cx="310014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Analogous to </a:t>
            </a:r>
            <a:r>
              <a:rPr lang="en-US" sz="2400" dirty="0" err="1">
                <a:highlight>
                  <a:srgbClr val="FFFF00"/>
                </a:highlight>
              </a:rPr>
              <a:t>e.o.m</a:t>
            </a:r>
            <a:r>
              <a:rPr lang="en-US" sz="2400" dirty="0">
                <a:highlight>
                  <a:srgbClr val="FFFF00"/>
                </a:highlight>
              </a:rPr>
              <a:t> for </a:t>
            </a:r>
          </a:p>
          <a:p>
            <a:r>
              <a:rPr lang="en-US" sz="2400" dirty="0">
                <a:highlight>
                  <a:srgbClr val="FFFF00"/>
                </a:highlight>
              </a:rPr>
              <a:t>a 1D instanton in QM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523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4821</TotalTime>
  <Words>407</Words>
  <Application>Microsoft Macintosh PowerPoint</Application>
  <PresentationFormat>Widescreen</PresentationFormat>
  <Paragraphs>113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CMSS10</vt:lpstr>
      <vt:lpstr>Verdana</vt:lpstr>
      <vt:lpstr>Wingdings</vt:lpstr>
      <vt:lpstr>Office Theme</vt:lpstr>
      <vt:lpstr> Project 4: CosmoTransition</vt:lpstr>
      <vt:lpstr> Phase Transitions in the Early Universe</vt:lpstr>
      <vt:lpstr>Motivations</vt:lpstr>
      <vt:lpstr>The Story</vt:lpstr>
      <vt:lpstr>The Story</vt:lpstr>
      <vt:lpstr>The Story</vt:lpstr>
      <vt:lpstr> Vacuum Decay in QFT The Bounce </vt:lpstr>
      <vt:lpstr>Vacuum Decay in QFT</vt:lpstr>
      <vt:lpstr>Vacuum Decay in QFT</vt:lpstr>
      <vt:lpstr> Vacuum Decay in QFT The Bounce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Transitions in the Early Universe</dc:title>
  <dc:creator>hani pasha</dc:creator>
  <cp:lastModifiedBy>Hanieh Moradipasha</cp:lastModifiedBy>
  <cp:revision>38</cp:revision>
  <dcterms:created xsi:type="dcterms:W3CDTF">2023-05-26T18:57:39Z</dcterms:created>
  <dcterms:modified xsi:type="dcterms:W3CDTF">2025-12-11T19:42:32Z</dcterms:modified>
</cp:coreProperties>
</file>