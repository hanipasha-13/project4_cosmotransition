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9" r:id="rId3"/>
    <p:sldId id="264" r:id="rId4"/>
    <p:sldId id="265" r:id="rId5"/>
    <p:sldId id="284" r:id="rId6"/>
    <p:sldId id="288" r:id="rId7"/>
    <p:sldId id="291" r:id="rId8"/>
    <p:sldId id="292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583"/>
  </p:normalViewPr>
  <p:slideViewPr>
    <p:cSldViewPr snapToGrid="0">
      <p:cViewPr varScale="1">
        <p:scale>
          <a:sx n="91" d="100"/>
          <a:sy n="91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9AB-9431-84D0-8802-7F2BB50A0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F0835-25D3-8066-6C28-25C65B878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A39A-4ABD-E643-9DE1-A73C6FE5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09628-FD76-8BF9-0288-94D5FAA2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9DA4C-6E98-FE07-171E-D637B8CB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8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6FB2-E458-5BF2-A4B3-6925D378A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91E0-91EA-3D8B-EDAF-3325C2FDC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2D5E-8997-2F6C-7B2B-C614CB5D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D3D1-2854-8EEE-AE91-5B389C34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89D2B-B967-B73D-E6F3-73102FB8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5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DAE7-4A62-AEA7-C282-F7BDACEF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5B6B3-5F7B-BEFC-94B0-F945128A5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37857-7533-3022-B72E-6BBAEDF4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7A70-3437-BE68-0A24-AC61C2CC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36E4-02A0-B463-441E-AAA8EA3A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1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1963-6E40-1305-DB6A-F01614B0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A4A70-B0C6-5024-8563-759572055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02AE5-5B27-3F94-23CD-0F72A18C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AA430-9CB5-B07F-39D6-E1F04598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E635F-80CC-0391-45FC-BBA70A46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F0106-747E-4466-B51E-2D0B8F53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8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BC64-0410-4E55-3C73-B7A39E3C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E5328-920F-4196-A679-182A50E92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E2818-BAEE-A8E4-60CB-291248E50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62A43-68B4-84A2-6580-6E3712FCA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D17C-4E5D-1E7E-342E-C429067F2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ED7ED-2483-53A2-4DD6-F2E7483D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28DE5-C173-9C0C-C37F-928103DD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EBEE2-E741-5F44-2495-3FF8EC4C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3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F9EC-C65C-08A5-C4EA-D35F006F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41A5B-978D-21DD-47CE-93A194A7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E1CF4-9DF8-ADCA-3E96-D20E8EF0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1A8E2-8326-C629-A213-E3986E9C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0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11817-E1FF-4D1A-5630-31E52F03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6A43D-8253-04E9-8586-44DC8D0B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41BCB-C5EA-2693-8DE8-6987154B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0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EB68-E7AB-21A2-B646-5AE0CB54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07EE-84AB-AFE2-B733-31DBC58DC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2BD2B-D503-98D5-6349-196565F4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A4B4C-8DE9-608F-0F40-CF9A5BDD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B7A6F-4211-874C-38C5-331DE9ED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3C3F9-3D7C-1AEB-EA4E-32C0A63D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0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242E-7769-CDED-E23A-4DCD0125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8109D-7C0F-876D-564C-C264AA861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AB8F1-A4A9-9993-1934-2C31A5ECA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DAE82-E71A-FA52-3A6D-0CD784CE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0D1C5-CABE-B335-D01C-3989F779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56182-FFBE-A9AF-DDC9-B5DE8E93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1183-6F79-FE20-5A66-CCC9EE05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E6F98-E064-6470-E6FC-AE4938E09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882D-78FD-1DCC-7B24-3F66D76F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85A36-E4BF-4F09-3859-969807B0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69518-DBB0-ECD3-B67E-A83A9E21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3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CB5BA-104C-C775-5E46-0A82851A1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B5F01-63AA-362F-4C03-687EA4957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C953-8AF6-E041-71C3-83D1FB70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06012-FC20-DEA9-C4AF-FCBF41B7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C5690-7599-E301-9F32-266D5EEE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AC62E-E37F-D360-C6F9-F7F018FD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376E3-F47D-B2E8-7433-82432A642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7DBB6-FB4A-7CB4-AE7D-9ECAC83F1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ED13F-CA7B-C24D-B68E-2A09D0F39BD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49AA1-1C43-DCFE-981C-B22B8E887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CBDED-7053-AF48-476D-A05E9CEFC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1C95E-1940-8442-93E7-368B808C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9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2BC87-333F-01DF-0761-5D61E768B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 err="1">
                <a:solidFill>
                  <a:srgbClr val="FFFFFF"/>
                </a:solidFill>
              </a:rPr>
              <a:t>CosmoTransition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F979E-9087-F7CD-6F96-4806C4E69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December 2025</a:t>
            </a:r>
          </a:p>
          <a:p>
            <a:pPr algn="l"/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D5A9-6A0D-1D57-0571-2B318E374797}"/>
              </a:ext>
            </a:extLst>
          </p:cNvPr>
          <p:cNvSpPr txBox="1"/>
          <p:nvPr/>
        </p:nvSpPr>
        <p:spPr>
          <a:xfrm>
            <a:off x="1204039" y="5527782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Hani, Amal, Srijana</a:t>
            </a:r>
          </a:p>
        </p:txBody>
      </p:sp>
    </p:spTree>
    <p:extLst>
      <p:ext uri="{BB962C8B-B14F-4D97-AF65-F5344CB8AC3E}">
        <p14:creationId xmlns:p14="http://schemas.microsoft.com/office/powerpoint/2010/main" val="1618421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9">
            <a:extLst>
              <a:ext uri="{FF2B5EF4-FFF2-40B4-BE49-F238E27FC236}">
                <a16:creationId xmlns:a16="http://schemas.microsoft.com/office/drawing/2014/main" id="{4821A50F-6BAC-93F3-E1B4-CF47ED81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8900" cy="727075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CosmoTransition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D5440F-C755-2FF1-1A50-1E9A67597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9427308" cy="52609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•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SingleFieldInstanton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- Solves 1D Euclidean bounce equation assuming O(4) symmetry</a:t>
            </a:r>
          </a:p>
          <a:p>
            <a:pPr marL="0" indent="0">
              <a:buNone/>
            </a:pP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findProfile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Computes instanton solution </a:t>
            </a: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r)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Outputs radial coordinate r and field profile </a:t>
            </a: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r)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Potential :- Defines multi-field scalar potential V(</a:t>
            </a: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x, </a:t>
            </a: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y)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Scalar potential V(</a:t>
            </a:r>
            <a:r>
              <a:rPr lang="el-G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): def V1(</a:t>
            </a:r>
            <a:r>
              <a:rPr lang="el-G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); def V2(</a:t>
            </a:r>
            <a:r>
              <a:rPr lang="el-G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 Derivative of the potential: def dV1(</a:t>
            </a:r>
            <a:r>
              <a:rPr lang="el-G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); def dV2(</a:t>
            </a:r>
            <a:r>
              <a:rPr lang="el-G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ϕ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 Method of the Potential class:  def V(self, X); def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dV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(self, X)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fullTunneling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 -  Finds least-action tunneling path in multi-field space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 - Reduces problem to effective 1D instanton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makePlots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</a:t>
            </a:r>
            <a:r>
              <a:rPr lang="el-GR" sz="1400" dirty="0">
                <a:latin typeface="Calibri" panose="020F0502020204030204" pitchFamily="34" charset="0"/>
                <a:cs typeface="Calibri" panose="020F0502020204030204" pitchFamily="34" charset="0"/>
              </a:rPr>
              <a:t>φ(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r): bubble profile (size &amp; wall thickness)</a:t>
            </a: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   - Contours + path: tunneling trajectory in field space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0B99C-6966-0E73-0B83-B32885BEA295}"/>
              </a:ext>
            </a:extLst>
          </p:cNvPr>
          <p:cNvSpPr txBox="1"/>
          <p:nvPr/>
        </p:nvSpPr>
        <p:spPr>
          <a:xfrm>
            <a:off x="6096000" y="195968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 u="none" strike="noStrike" baseline="0" dirty="0">
                <a:latin typeface="CMR12"/>
              </a:rPr>
              <a:t>To analyze</a:t>
            </a:r>
            <a:r>
              <a:rPr lang="en-US" i="1" dirty="0">
                <a:latin typeface="CMR12"/>
              </a:rPr>
              <a:t> </a:t>
            </a:r>
            <a:r>
              <a:rPr lang="en-US" sz="1800" b="0" i="1" u="none" strike="noStrike" baseline="0" dirty="0">
                <a:latin typeface="CMR12"/>
              </a:rPr>
              <a:t>cosmological phase transitions</a:t>
            </a:r>
            <a:endParaRPr lang="en-US" i="1" dirty="0">
              <a:latin typeface="CMR12"/>
            </a:endParaRPr>
          </a:p>
          <a:p>
            <a:pPr algn="ctr"/>
            <a:endParaRPr lang="en-US" sz="1800" b="0" i="1" u="none" strike="noStrike" baseline="0" dirty="0">
              <a:latin typeface="CMR12"/>
            </a:endParaRPr>
          </a:p>
          <a:p>
            <a:pPr algn="ctr"/>
            <a:r>
              <a:rPr lang="en-US" sz="1800" b="0" i="0" u="none" strike="noStrike" baseline="0" dirty="0">
                <a:latin typeface="CMR12"/>
              </a:rPr>
              <a:t> Algorithms to find the temperature-dependent phase minima, their critical temperatures, and the actual nucleation temperatures and tunneling proles of the transitions.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3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21900" cy="1073051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Bubble Profile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74192" y="6356350"/>
            <a:ext cx="10579608" cy="30723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D0F24A-34B3-6264-7189-93196B628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1-dimention Solution</a:t>
            </a:r>
            <a:r>
              <a:rPr lang="en-US" sz="2000" dirty="0"/>
              <a:t>: </a:t>
            </a:r>
          </a:p>
          <a:p>
            <a:pPr>
              <a:buFontTx/>
              <a:buChar char="-"/>
            </a:pPr>
            <a:r>
              <a:rPr lang="en-US" sz="2000" dirty="0"/>
              <a:t>overshoot/undershoot method: Find initial placement of particle.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Tx/>
              <a:buChar char="-"/>
            </a:pPr>
            <a:r>
              <a:rPr lang="en-US" sz="2000" dirty="0"/>
              <a:t>Thick-walled bubbles &amp; Thin-walled bubbles</a:t>
            </a:r>
          </a:p>
          <a:p>
            <a:pPr>
              <a:buFontTx/>
              <a:buChar char="-"/>
            </a:pPr>
            <a:r>
              <a:rPr lang="en-US" sz="2000" dirty="0"/>
              <a:t>Variable X: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37114-4FC8-F223-D134-A506C6043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234" y="1776427"/>
            <a:ext cx="2927003" cy="1100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0E6DC-14D8-69CD-C649-D6350A92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39" y="5464032"/>
            <a:ext cx="2256254" cy="374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E78E8-B676-82D9-F92C-FB7738485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725" y="5464032"/>
            <a:ext cx="2647213" cy="624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DA2E-33AB-CF90-3FEE-B8AB4807F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652" y="2787876"/>
            <a:ext cx="2927003" cy="1879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DD89E-E419-E050-8756-66347961965B}"/>
              </a:ext>
            </a:extLst>
          </p:cNvPr>
          <p:cNvSpPr txBox="1"/>
          <p:nvPr/>
        </p:nvSpPr>
        <p:spPr>
          <a:xfrm>
            <a:off x="3836895" y="2869368"/>
            <a:ext cx="1371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Undershoot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395E6B-BF64-32C3-A1F1-AD969F60FE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4955" y="2869368"/>
            <a:ext cx="2962704" cy="1880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B3EA8E-2D74-7D80-4F44-C0550E580BF3}"/>
              </a:ext>
            </a:extLst>
          </p:cNvPr>
          <p:cNvSpPr txBox="1"/>
          <p:nvPr/>
        </p:nvSpPr>
        <p:spPr>
          <a:xfrm>
            <a:off x="8431234" y="4204390"/>
            <a:ext cx="127904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Overshoot</a:t>
            </a:r>
          </a:p>
        </p:txBody>
      </p:sp>
    </p:spTree>
    <p:extLst>
      <p:ext uri="{BB962C8B-B14F-4D97-AF65-F5344CB8AC3E}">
        <p14:creationId xmlns:p14="http://schemas.microsoft.com/office/powerpoint/2010/main" val="302815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DBED8E-FEF5-6888-B51C-B051FCCC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8"/>
            <a:ext cx="10515600" cy="98854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Bubble Profile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078E7C2-8745-6963-9013-2CA5B3BE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356349"/>
            <a:ext cx="10515600" cy="36512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3E4F9-0AC5-8881-1D58-EB35CBE9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5AF8-8514-45F8-9E4A-2B752AD1538E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7A1B-0648-CA94-52BD-9636E6B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8B186C6-D8E1-C994-A89B-A54B55236C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Multi-dimension Solution</a:t>
            </a:r>
            <a:r>
              <a:rPr lang="en-US" sz="2000" dirty="0"/>
              <a:t>: </a:t>
            </a:r>
          </a:p>
          <a:p>
            <a:pPr>
              <a:buFontTx/>
              <a:buChar char="-"/>
            </a:pPr>
            <a:r>
              <a:rPr lang="en-US" sz="2000" dirty="0"/>
              <a:t>Path deformation: Initial guess</a:t>
            </a:r>
          </a:p>
          <a:p>
            <a:pPr>
              <a:buFontTx/>
              <a:buChar char="-"/>
            </a:pPr>
            <a:r>
              <a:rPr lang="en-US" sz="2000" dirty="0"/>
              <a:t>Trick: Find the right path.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53C399-3029-5CD0-058A-FFD56CFA8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642" y="1814425"/>
            <a:ext cx="2514600" cy="1121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B80F35-F6BB-CAA5-9F33-99991084B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93" y="3802154"/>
            <a:ext cx="2968013" cy="2046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F4531-11E2-9D91-E49A-E000F5C6A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300" y="3376717"/>
            <a:ext cx="3781466" cy="3606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9A497A-8811-D4F8-1BAD-6951B8A27368}"/>
              </a:ext>
            </a:extLst>
          </p:cNvPr>
          <p:cNvSpPr txBox="1"/>
          <p:nvPr/>
        </p:nvSpPr>
        <p:spPr>
          <a:xfrm>
            <a:off x="5257800" y="321702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CMR12"/>
              </a:rPr>
              <a:t>A</a:t>
            </a:r>
            <a:r>
              <a:rPr lang="en-US" sz="1800" b="0" i="0" u="none" strike="noStrike" baseline="0" dirty="0">
                <a:latin typeface="CMR12"/>
              </a:rPr>
              <a:t>lgorithm: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CMR12"/>
              </a:rPr>
              <a:t>C</a:t>
            </a:r>
            <a:r>
              <a:rPr lang="en-US" sz="1800" b="0" i="0" u="none" strike="noStrike" baseline="0" dirty="0">
                <a:latin typeface="CMR12"/>
              </a:rPr>
              <a:t>alculates the bubble profile</a:t>
            </a:r>
            <a:r>
              <a:rPr lang="en-US" dirty="0">
                <a:latin typeface="CMR12"/>
              </a:rPr>
              <a:t> </a:t>
            </a:r>
            <a:r>
              <a:rPr lang="en-US" sz="1800" b="0" i="0" u="none" strike="noStrike" baseline="0" dirty="0">
                <a:latin typeface="CMR12"/>
              </a:rPr>
              <a:t>using the o/u method. 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CMR12"/>
              </a:rPr>
              <a:t>D</a:t>
            </a:r>
            <a:r>
              <a:rPr lang="en-US" sz="1800" b="0" i="0" u="none" strike="noStrike" baseline="0" dirty="0">
                <a:latin typeface="CMR12"/>
              </a:rPr>
              <a:t>eforms the path in a series of steps.</a:t>
            </a:r>
          </a:p>
          <a:p>
            <a:pPr marL="342900" indent="-342900" algn="l">
              <a:buAutoNum type="arabicPeriod"/>
            </a:pPr>
            <a:r>
              <a:rPr lang="en-US" sz="1800" b="0" i="0" u="none" strike="noStrike" baseline="0" dirty="0">
                <a:latin typeface="CMR12"/>
              </a:rPr>
              <a:t>At each step it calculates the normal force.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CMR12"/>
              </a:rPr>
              <a:t>M</a:t>
            </a:r>
            <a:r>
              <a:rPr lang="en-US" sz="1800" b="0" i="0" u="none" strike="noStrike" baseline="0" dirty="0">
                <a:latin typeface="CMR12"/>
              </a:rPr>
              <a:t>oves the points in that direction times some small </a:t>
            </a:r>
            <a:r>
              <a:rPr lang="en-US" sz="1800" b="0" i="0" u="none" strike="noStrike" baseline="0" dirty="0" err="1">
                <a:latin typeface="CMR12"/>
              </a:rPr>
              <a:t>stepsize</a:t>
            </a:r>
            <a:r>
              <a:rPr lang="en-US" sz="1800" b="0" i="0" u="none" strike="noStrike" baseline="0" dirty="0">
                <a:latin typeface="CMR12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dirty="0">
                <a:latin typeface="CMR12"/>
              </a:rPr>
              <a:t>R</a:t>
            </a:r>
            <a:r>
              <a:rPr lang="en-US" sz="1800" b="0" i="0" u="none" strike="noStrike" baseline="0" dirty="0">
                <a:latin typeface="CMR12"/>
              </a:rPr>
              <a:t>epeating the procedure a few times, the deformation should converge after a single step. </a:t>
            </a:r>
          </a:p>
          <a:p>
            <a:pPr marL="342900" indent="-342900" algn="l">
              <a:buAutoNum type="arabicPeriod"/>
            </a:pPr>
            <a:r>
              <a:rPr lang="en-US" sz="1800" b="0" i="0" u="none" strike="noStrike" baseline="0" dirty="0">
                <a:latin typeface="CMR12"/>
              </a:rPr>
              <a:t>The algorithm will</a:t>
            </a:r>
          </a:p>
          <a:p>
            <a:pPr algn="l"/>
            <a:r>
              <a:rPr lang="en-US" sz="1800" b="0" i="0" u="none" strike="noStrike" baseline="0" dirty="0">
                <a:latin typeface="CMR12"/>
              </a:rPr>
              <a:t>return the final tunneling solution.</a:t>
            </a:r>
          </a:p>
          <a:p>
            <a:pPr marL="342900" indent="-342900" algn="l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090"/>
            <a:ext cx="10515600" cy="80028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FEA9-E0A0-0367-1232-46F46F29B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598"/>
            <a:ext cx="10515600" cy="49673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i="1" dirty="0"/>
              <a:t>Example 1: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06713-38C4-6A75-78B1-E198C1FC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09" y="1630976"/>
            <a:ext cx="3724275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F36E4-840B-C7E9-AD57-211370927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41" y="1209598"/>
            <a:ext cx="3121177" cy="1580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2BDE3-A86C-24B9-F8EB-7EC521212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009" y="2886251"/>
            <a:ext cx="4181148" cy="31358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7AC27F-01FB-6E65-A862-0A119C512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44" y="2881961"/>
            <a:ext cx="4270792" cy="3203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7A297D-6AC3-D0B2-0B97-E2FF086BCA65}"/>
              </a:ext>
            </a:extLst>
          </p:cNvPr>
          <p:cNvSpPr txBox="1"/>
          <p:nvPr/>
        </p:nvSpPr>
        <p:spPr>
          <a:xfrm>
            <a:off x="2392184" y="2941557"/>
            <a:ext cx="2912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Thin-wall Tunneling: </a:t>
            </a:r>
            <a:r>
              <a:rPr lang="el-GR" sz="1600" dirty="0"/>
              <a:t>α</a:t>
            </a:r>
            <a:r>
              <a:rPr lang="en-US" sz="1600" dirty="0"/>
              <a:t>=0.02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F5E5D-A1A8-0E59-4D3D-28E0121F6850}"/>
              </a:ext>
            </a:extLst>
          </p:cNvPr>
          <p:cNvSpPr txBox="1"/>
          <p:nvPr/>
        </p:nvSpPr>
        <p:spPr>
          <a:xfrm>
            <a:off x="6931841" y="2941557"/>
            <a:ext cx="2912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Thick-wall Tunneling: </a:t>
            </a:r>
            <a:r>
              <a:rPr lang="el-GR" sz="1600" dirty="0"/>
              <a:t>α</a:t>
            </a:r>
            <a:r>
              <a:rPr lang="en-US" sz="1600" dirty="0"/>
              <a:t>=0.25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D4DCF7-DA7E-54DB-9B0E-4664CE8EF74C}"/>
                  </a:ext>
                </a:extLst>
              </p:cNvPr>
              <p:cNvSpPr txBox="1"/>
              <p:nvPr/>
            </p:nvSpPr>
            <p:spPr>
              <a:xfrm>
                <a:off x="1822722" y="2386383"/>
                <a:ext cx="3594847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D4DCF7-DA7E-54DB-9B0E-4664CE8EF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722" y="2386383"/>
                <a:ext cx="3594847" cy="391582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90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D66A-EF09-018C-D65B-A1560D78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090"/>
            <a:ext cx="10515600" cy="800286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FEA9-E0A0-0367-1232-46F46F29B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882"/>
            <a:ext cx="10515600" cy="48770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i="1" dirty="0"/>
              <a:t>Example 2:</a:t>
            </a:r>
          </a:p>
          <a:p>
            <a:pPr marL="0" indent="0" algn="ctr">
              <a:buNone/>
            </a:pPr>
            <a:endParaRPr lang="en-US" sz="2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24EC-CDD3-8471-24D3-AC974E9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77724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8F0FD-B0A1-4BF0-4877-34138BD1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fld id="{8A51A8A1-4F3C-4908-9B1E-71B2111D747E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9A656-36F4-0574-ADC5-A3CFB0E8B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72" y="1665710"/>
            <a:ext cx="4637614" cy="366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0384EC-1FEC-C28B-0B57-1A31AF8009BA}"/>
              </a:ext>
            </a:extLst>
          </p:cNvPr>
          <p:cNvSpPr txBox="1"/>
          <p:nvPr/>
        </p:nvSpPr>
        <p:spPr>
          <a:xfrm>
            <a:off x="6727343" y="1930008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40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1.92926e-02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29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1.98492e-02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1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9.11781e-02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37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1.98389e-02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25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1.93061e-02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Path deformation converged. 1 steps.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fRatio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= 7.36852e-02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3BC96E-F9A2-EBFC-E687-69BA1C338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472" y="2211411"/>
            <a:ext cx="4914988" cy="36862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86ECE7-350C-6256-DBE9-B8E3BBFD3A03}"/>
              </a:ext>
            </a:extLst>
          </p:cNvPr>
          <p:cNvSpPr txBox="1"/>
          <p:nvPr/>
        </p:nvSpPr>
        <p:spPr>
          <a:xfrm>
            <a:off x="6727343" y="3404697"/>
            <a:ext cx="41181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Thin-walled instanton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Potential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delta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Thick-walled instanton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Potential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delta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995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AA6C7-021C-7593-AB7A-059AAB79E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5036234"/>
          </a:xfrm>
          <a:solidFill>
            <a:schemeClr val="tx1"/>
          </a:solidFill>
        </p:spPr>
        <p:txBody>
          <a:bodyPr>
            <a:normAutofit fontScale="32500" lnSpcReduction="20000"/>
          </a:bodyPr>
          <a:lstStyle/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cosmoTransitions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tunneling1D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matplotlib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pyplot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55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Thin-walled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0.49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0.235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.47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findProfile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55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Thick-walled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0.4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55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 </a:t>
            </a:r>
            <a:r>
              <a:rPr lang="en-US" sz="55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.2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SingleFieldInstanton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dV2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findProfile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plot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profile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Phi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xlabel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 err="1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"Radius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 $r$"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ylabel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55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US" sz="5500" b="0" dirty="0" err="1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"Field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 $</a:t>
            </a:r>
            <a:r>
              <a:rPr lang="en-US" sz="55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\p</a:t>
            </a:r>
            <a:r>
              <a:rPr lang="en-US" sz="5500" b="0" dirty="0">
                <a:solidFill>
                  <a:srgbClr val="D16969"/>
                </a:solidFill>
                <a:effectLst/>
                <a:latin typeface="Menlo" panose="020B0609030804020204" pitchFamily="49" charset="0"/>
              </a:rPr>
              <a:t>hi$"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sz="55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US" sz="55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55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en-US" sz="55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180560-0B37-BBDF-A2F7-9CAD9D05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4D9A97-71CE-03AE-F46A-59871600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5156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5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6EAA-685B-2F38-5752-443735D1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17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Content Placeholder 7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955D4A0C-A88A-51E1-B6B7-4A09E058F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2FB1D-7221-BD76-8314-F9C7C629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5156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2068D0-FE7D-8F65-C56F-8DE3071E97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917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</a:rPr>
              <a:t>From CosmoTranstions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61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D37C57-A990-FDFF-C346-1C54A7FF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50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err="1">
                <a:solidFill>
                  <a:schemeClr val="bg1"/>
                </a:solidFill>
              </a:rPr>
              <a:t>CosmoTranstions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5C1F32-4E9B-BADE-B71A-7F8B5BE9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Do the Exercise and answer these questions:</a:t>
            </a:r>
          </a:p>
          <a:p>
            <a:pPr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Question 1: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Looking at your plot, which minimum appears to be the stable one? Which is metastable?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Question 2: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Based on the energies, which minimum is stable and which is metastable?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Question 3: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 what approximate radius does the bubble wall (the transition region) occur?</a:t>
            </a:r>
          </a:p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68FDFCF-CEDB-A036-299D-F79AC484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515600" cy="36512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fld id="{2FD3C8F2-B071-41F0-BFDE-B4A20A78BA8A}" type="datetime1">
              <a:rPr lang="en-US" smtClean="0">
                <a:solidFill>
                  <a:schemeClr val="bg1"/>
                </a:solidFill>
              </a:rPr>
              <a:t>12/15/25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35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666</Words>
  <Application>Microsoft Macintosh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CMR12</vt:lpstr>
      <vt:lpstr>Consolas</vt:lpstr>
      <vt:lpstr>Menlo</vt:lpstr>
      <vt:lpstr>Office Theme</vt:lpstr>
      <vt:lpstr>CosmoTransition</vt:lpstr>
      <vt:lpstr>CosmoTransition</vt:lpstr>
      <vt:lpstr>Bubble Profile</vt:lpstr>
      <vt:lpstr>Bubble Profile</vt:lpstr>
      <vt:lpstr>From CosmoTranstions</vt:lpstr>
      <vt:lpstr>From CosmoTranstions</vt:lpstr>
      <vt:lpstr>From CosmoTranstions</vt:lpstr>
      <vt:lpstr>PowerPoint Presentation</vt:lpstr>
      <vt:lpstr>From CosmoTranstions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Hanieh Moradipasha</dc:creator>
  <cp:lastModifiedBy>Hanieh Moradipasha</cp:lastModifiedBy>
  <cp:revision>6</cp:revision>
  <dcterms:created xsi:type="dcterms:W3CDTF">2025-12-11T19:39:24Z</dcterms:created>
  <dcterms:modified xsi:type="dcterms:W3CDTF">2025-12-15T07:16:23Z</dcterms:modified>
</cp:coreProperties>
</file>